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9C5698"/>
              </a:gs>
              <a:gs pos="100000">
                <a:srgbClr val="FFA000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  <a:latin typeface="Fredoka"/>
              </a:defRPr>
            </a:pPr>
            <a:r>
              <a:t>izzico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Nunito"/>
              </a:defRPr>
            </a:pPr>
            <a:r>
              <a:t>Le co-living réinventé par la compatibilité humaine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Inter"/>
              </a:defRPr>
            </a:pPr>
            <a:r>
              <a:t>Samuel Baudon | StartLab Build I - Décembre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i="1">
                <a:solidFill>
                  <a:srgbClr val="FFFFFF"/>
                </a:solidFill>
                <a:latin typeface="Inter"/>
              </a:defRPr>
            </a:pPr>
            <a:r>
              <a:t>"Matcher les bonnes personnes, pas juste les bons logements"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Le Problème : Un Marché en Explosion... Mais Non Structuré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gradFill rotWithShape="1">
            <a:gsLst>
              <a:gs pos="0">
                <a:srgbClr val="9C5698"/>
              </a:gs>
              <a:gs pos="100000">
                <a:srgbClr val="FFA000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solidFill>
            <a:srgbClr val="F0F7F4"/>
          </a:solidFill>
          <a:ln w="38100">
            <a:solidFill>
              <a:srgbClr val="7CB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solidFill>
            <a:srgbClr val="7CB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325880"/>
            <a:ext cx="7360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1A1A"/>
                </a:solidFill>
              </a:defRPr>
            </a:pPr>
            <a:r>
              <a:t>Explosion du Marché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  • +360% de colocataires entre 2021-2024 (CBRE)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  • 725,000 colocataires en Belgique aujourd'hui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solidFill>
            <a:srgbClr val="FFFBEB"/>
          </a:solidFill>
          <a:ln w="38100">
            <a:solidFill>
              <a:srgbClr val="D9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788920"/>
            <a:ext cx="457200" cy="457200"/>
          </a:xfrm>
          <a:prstGeom prst="rect">
            <a:avLst/>
          </a:prstGeom>
          <a:solidFill>
            <a:srgbClr val="D9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788920"/>
            <a:ext cx="7360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1A1A"/>
                </a:solidFill>
              </a:defRPr>
            </a:pPr>
            <a:r>
              <a:t>Recherche Inefficace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  • Les gens signent dans l'urgence sans connaître leurs futurs colocs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  • Pas de matching sur la personnalité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8229600" cy="1280160"/>
          </a:xfrm>
          <a:prstGeom prst="rect">
            <a:avLst/>
          </a:prstGeom>
          <a:solidFill>
            <a:srgbClr val="F8F0F7"/>
          </a:solidFill>
          <a:ln w="38100">
            <a:solidFill>
              <a:srgbClr val="9C56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4251960"/>
            <a:ext cx="457200" cy="457200"/>
          </a:xfrm>
          <a:prstGeom prst="rect">
            <a:avLst/>
          </a:prstGeom>
          <a:solidFill>
            <a:srgbClr val="9C5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51960"/>
            <a:ext cx="7360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1A1A"/>
                </a:solidFill>
              </a:defRPr>
            </a:pPr>
            <a:r>
              <a:t>Absence Totale de Données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  • Marché non mesuré, non structuré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  • = Opportunité stratégique unique pour Izzico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3 Personas, 1 Besoin Commun : La Compatibilité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gradFill rotWithShape="1">
            <a:gsLst>
              <a:gs pos="0">
                <a:srgbClr val="9C5698"/>
              </a:gs>
              <a:gs pos="100000">
                <a:srgbClr val="FFA000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560320" cy="2926080"/>
          </a:xfrm>
          <a:prstGeom prst="rect">
            <a:avLst/>
          </a:prstGeom>
          <a:solidFill>
            <a:srgbClr val="FFFBEB"/>
          </a:solidFill>
          <a:ln w="508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914400" cy="9144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  <a:latin typeface="Nunito"/>
              </a:defRPr>
            </a:pPr>
            <a:r>
              <a:t>Searchers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404040"/>
                </a:solidFill>
              </a:defRPr>
            </a:pPr>
            <a:r>
              <a:t>Trouvent un logement mais pas les bonnes personnes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828800" cy="365760"/>
          </a:xfrm>
          <a:prstGeom prst="rect">
            <a:avLst/>
          </a:prstGeom>
          <a:solidFill>
            <a:srgbClr val="FFA000"/>
          </a:solidFill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Volume = turnover (?)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280160"/>
            <a:ext cx="2560320" cy="2926080"/>
          </a:xfrm>
          <a:prstGeom prst="rect">
            <a:avLst/>
          </a:prstGeom>
          <a:solidFill>
            <a:srgbClr val="F8F0F7"/>
          </a:solidFill>
          <a:ln w="50800">
            <a:solidFill>
              <a:srgbClr val="9C56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463040"/>
            <a:ext cx="914400" cy="914400"/>
          </a:xfrm>
          <a:prstGeom prst="rect">
            <a:avLst/>
          </a:prstGeom>
          <a:solidFill>
            <a:srgbClr val="9C5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5603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  <a:latin typeface="Nunito"/>
              </a:defRPr>
            </a:pPr>
            <a:r>
              <a:t>Owners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17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404040"/>
                </a:solidFill>
              </a:defRPr>
            </a:pPr>
            <a:r>
              <a:t>Difficile de constituer des groupes stables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840480"/>
            <a:ext cx="1828800" cy="365760"/>
          </a:xfrm>
          <a:prstGeom prst="rect">
            <a:avLst/>
          </a:prstGeom>
          <a:solidFill>
            <a:srgbClr val="9C5698"/>
          </a:solidFill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290K biens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560320" cy="2926080"/>
          </a:xfrm>
          <a:prstGeom prst="rect">
            <a:avLst/>
          </a:prstGeom>
          <a:solidFill>
            <a:srgbClr val="FEF2EE"/>
          </a:solidFill>
          <a:ln w="50800">
            <a:solidFill>
              <a:srgbClr val="E0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80" y="1463040"/>
            <a:ext cx="914400" cy="914400"/>
          </a:xfrm>
          <a:prstGeom prst="rect">
            <a:avLst/>
          </a:prstGeom>
          <a:solidFill>
            <a:srgbClr val="E05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5603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  <a:latin typeface="Nunito"/>
              </a:defRPr>
            </a:pPr>
            <a:r>
              <a:t>Residents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404040"/>
                </a:solidFill>
              </a:defRPr>
            </a:pPr>
            <a:r>
              <a:t>Veulent remplacer un coloc compatible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840480"/>
            <a:ext cx="1828800" cy="365760"/>
          </a:xfrm>
          <a:prstGeom prst="rect">
            <a:avLst/>
          </a:prstGeom>
          <a:solidFill>
            <a:srgbClr val="E05747"/>
          </a:solidFill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725K résidents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</a:defRPr>
            </a:pPr>
            <a:r>
              <a:t>"Tous cherchent la même chose : ne pas vivre avec des inconnus incompatibles"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Izzico = Tinder meets Airbnb pour le co-living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gradFill rotWithShape="1">
            <a:gsLst>
              <a:gs pos="0">
                <a:srgbClr val="9C5698"/>
              </a:gs>
              <a:gs pos="100000">
                <a:srgbClr val="FFA000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FEF2EE"/>
          </a:solidFill>
          <a:ln w="38100">
            <a:solidFill>
              <a:srgbClr val="E0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solidFill>
            <a:srgbClr val="E05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17320"/>
            <a:ext cx="7360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1A1A"/>
                </a:solidFill>
              </a:defRPr>
            </a:pPr>
            <a:r>
              <a:t>Matching Intelligent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  • Algorithme 46+ critères (rythme, propreté, budget...)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  • Profils vérifiés (KYC) + scoring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solidFill>
            <a:srgbClr val="F8F0F7"/>
          </a:solidFill>
          <a:ln w="38100">
            <a:solidFill>
              <a:srgbClr val="9C56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solidFill>
            <a:srgbClr val="9C5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606040"/>
            <a:ext cx="7360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1A1A"/>
                </a:solidFill>
              </a:defRPr>
            </a:pPr>
            <a:r>
              <a:t>Gestion Quotidienne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  • Partage de frais automatisé (OCR factures)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  • Gestion tâches ménagères + calendrier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FFBEB"/>
          </a:solidFill>
          <a:ln w="381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3794760"/>
            <a:ext cx="457200" cy="4572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794760"/>
            <a:ext cx="7360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1A1A"/>
                </a:solidFill>
              </a:defRPr>
            </a:pPr>
            <a:r>
              <a:t>Prévention des Conflits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  • Alertes préventives basées sur données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  • Médiation intégrée + historique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solidFill>
            <a:srgbClr val="7CB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Réduire les frictions, augmenter la satisfaction, stabiliser les colocations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Un Marché de €3.1 Milliards en Belgique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gradFill rotWithShape="1">
            <a:gsLst>
              <a:gs pos="0">
                <a:srgbClr val="9C5698"/>
              </a:gs>
              <a:gs pos="100000">
                <a:srgbClr val="FFA000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560320" cy="1828800"/>
          </a:xfrm>
          <a:prstGeom prst="rect">
            <a:avLst/>
          </a:prstGeom>
          <a:solidFill>
            <a:srgbClr val="FFFFFF"/>
          </a:solidFill>
          <a:ln w="50800">
            <a:solidFill>
              <a:srgbClr val="9C56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9C5698"/>
                </a:solidFill>
              </a:defRPr>
            </a:pPr>
            <a:r>
              <a:t>€3.1 Mds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TAM - Marché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290K biens × 725K colocataires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560320" cy="1828800"/>
          </a:xfrm>
          <a:prstGeom prst="rect">
            <a:avLst/>
          </a:prstGeom>
          <a:solidFill>
            <a:srgbClr val="FFFFFF"/>
          </a:solidFill>
          <a:ln w="50800">
            <a:solidFill>
              <a:srgbClr val="E0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54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05747"/>
                </a:solidFill>
              </a:defRPr>
            </a:pPr>
            <a:r>
              <a:t>€1.3 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86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SAM - Digitalisable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Zones urbaines (42% TAM)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560320" cy="1828800"/>
          </a:xfrm>
          <a:prstGeom prst="rect">
            <a:avLst/>
          </a:prstGeom>
          <a:solidFill>
            <a:srgbClr val="FFFFFF"/>
          </a:solidFill>
          <a:ln w="508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A000"/>
                </a:solidFill>
              </a:defRPr>
            </a:pPr>
            <a:r>
              <a:t>€1M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SOM - Objectif 3 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5% pénétration SAM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0F7F4"/>
          </a:solidFill>
          <a:ln w="38100">
            <a:solidFill>
              <a:srgbClr val="7CB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520440"/>
            <a:ext cx="457200" cy="457200"/>
          </a:xfrm>
          <a:prstGeom prst="rect">
            <a:avLst/>
          </a:prstGeom>
          <a:solidFill>
            <a:srgbClr val="7CB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520440"/>
            <a:ext cx="7360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1A1A"/>
                </a:solidFill>
              </a:defRPr>
            </a:pPr>
            <a:r>
              <a:t>Drivers de Croissance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  • 75% des locataires voudraient acheter (CBRE 2024)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  • Hausse des loyers +4-5%/an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  • Urbanisation + démographie étudiante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04040"/>
                </a:solidFill>
              </a:defRPr>
            </a:pPr>
            <a:r>
              <a:t>Slide 6 - À compléter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04040"/>
                </a:solidFill>
              </a:defRPr>
            </a:pPr>
            <a:r>
              <a:t>Slide 7 - À compléter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04040"/>
                </a:solidFill>
              </a:defRPr>
            </a:pPr>
            <a:r>
              <a:t>Slide 8 - À compléter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04040"/>
                </a:solidFill>
              </a:defRPr>
            </a:pPr>
            <a:r>
              <a:t>Slide 9 - À compléter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04040"/>
                </a:solidFill>
              </a:defRPr>
            </a:pPr>
            <a:r>
              <a:t>Slide 10 - À compléter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04040"/>
                </a:solidFill>
              </a:defRPr>
            </a:pPr>
            <a:r>
              <a:t>Slide 11 - À compléter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04040"/>
                </a:solidFill>
              </a:defRPr>
            </a:pPr>
            <a:r>
              <a:t>Slide 12 - À compléter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zzico-homepage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00400" y="137160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zzico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828800"/>
            <a:ext cx="1828800" cy="1828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0" y="429768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3891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Fredoka"/>
              </a:defRPr>
            </a:pPr>
            <a:r>
              <a:t>izzico.be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9C5698"/>
              </a:gs>
              <a:gs pos="100000">
                <a:srgbClr val="FFA000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Samuel Baudon - Fondateur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gradFill rotWithShape="1">
            <a:gsLst>
              <a:gs pos="0">
                <a:srgbClr val="9C5698"/>
              </a:gs>
              <a:gs pos="100000">
                <a:srgbClr val="FFA000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4747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"/>
              </a:defRPr>
            </a:pPr>
            <a:r>
              <a:t>Background</a:t>
            </a:r>
          </a:p>
          <a:p>
            <a:pPr>
              <a:defRPr sz="1400" b="0">
                <a:solidFill>
                  <a:srgbClr val="FFFFFF"/>
                </a:solidFill>
                <a:latin typeface="Inter"/>
              </a:defRPr>
            </a:pPr>
          </a:p>
          <a:p>
            <a:pPr>
              <a:defRPr sz="1400" b="0">
                <a:solidFill>
                  <a:srgbClr val="FFFFFF"/>
                </a:solidFill>
                <a:latin typeface="Inter"/>
              </a:defRPr>
            </a:pPr>
            <a:r>
              <a:t>• Master Relations Publiques IHECS</a:t>
            </a:r>
          </a:p>
          <a:p>
            <a:pPr>
              <a:defRPr sz="1400" b="0">
                <a:solidFill>
                  <a:srgbClr val="FFFFFF"/>
                </a:solidFill>
                <a:latin typeface="Inter"/>
              </a:defRPr>
            </a:pPr>
            <a:r>
              <a:t>• Co-fondateur Ears &amp; Eyes</a:t>
            </a:r>
          </a:p>
          <a:p>
            <a:pPr>
              <a:defRPr sz="1400" b="0">
                <a:solidFill>
                  <a:srgbClr val="FFFFFF"/>
                </a:solidFill>
                <a:latin typeface="Inter"/>
              </a:defRPr>
            </a:pPr>
            <a:r>
              <a:t>• Consultant Agoria</a:t>
            </a:r>
          </a:p>
          <a:p>
            <a:pPr>
              <a:defRPr sz="1400" b="0">
                <a:solidFill>
                  <a:srgbClr val="FFFFFF"/>
                </a:solidFill>
                <a:latin typeface="Inter"/>
              </a:defRPr>
            </a:pPr>
            <a:r>
              <a:t>• Assistant MIMA Museum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38404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371600"/>
            <a:ext cx="34747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"/>
              </a:defRPr>
            </a:pPr>
            <a:r>
              <a:t>Pourquoi Izzico ?</a:t>
            </a:r>
          </a:p>
          <a:p>
            <a:pPr>
              <a:defRPr sz="1400" b="0">
                <a:solidFill>
                  <a:srgbClr val="FFFFFF"/>
                </a:solidFill>
                <a:latin typeface="Inter"/>
              </a:defRPr>
            </a:pPr>
          </a:p>
          <a:p>
            <a:pPr>
              <a:defRPr sz="1400" b="0">
                <a:solidFill>
                  <a:srgbClr val="FFFFFF"/>
                </a:solidFill>
                <a:latin typeface="Inter"/>
              </a:defRPr>
            </a:pPr>
            <a:r>
              <a:t>• 18-30 ans : Je suis dans la cible</a:t>
            </a:r>
          </a:p>
          <a:p>
            <a:pPr>
              <a:defRPr sz="1400" b="0">
                <a:solidFill>
                  <a:srgbClr val="FFFFFF"/>
                </a:solidFill>
                <a:latin typeface="Inter"/>
              </a:defRPr>
            </a:pPr>
            <a:r>
              <a:t>• Claude Code : Outil de création</a:t>
            </a:r>
          </a:p>
          <a:p>
            <a:pPr>
              <a:defRPr sz="1400" b="0">
                <a:solidFill>
                  <a:srgbClr val="FFFFFF"/>
                </a:solidFill>
                <a:latin typeface="Inter"/>
              </a:defRPr>
            </a:pPr>
            <a:r>
              <a:t>• Agoria : Professionnalisme</a:t>
            </a:r>
          </a:p>
          <a:p>
            <a:pPr>
              <a:defRPr sz="1400" b="0">
                <a:solidFill>
                  <a:srgbClr val="FFFFFF"/>
                </a:solidFill>
                <a:latin typeface="Inter"/>
              </a:defRPr>
            </a:pPr>
            <a:r>
              <a:t>• Ears &amp; Eyes : Vision communauté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unito"/>
              </a:defRPr>
            </a:pPr>
            <a:r>
              <a:t>"Rejoignez-nous pour transformer le co-living"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</a:p>
          <a:p>
            <a:r>
              <a:t>hello@izzico.be | www.izzico.be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