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9C5698"/>
              </a:gs>
              <a:gs pos="100000">
                <a:srgbClr val="FFA000"/>
              </a:gs>
            </a:gsLst>
            <a:lin scaled="0" ang="135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182880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Arial Rounded MT Bold"/>
              </a:defRPr>
            </a:pPr>
            <a:r>
              <a:t>Izzico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Le co-living réinventé par la compatibilité humaine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Samuel Baudon | StartLab Build I - Décembre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"Matcher les bonnes personnes, pas juste les bons logements"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Le Problème : Un marché en explosion... mais non structuré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731520" cy="73152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0">
                <a:latin typeface="Calibri"/>
              </a:defRPr>
            </a:pPr>
            <a:r>
              <a:t>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Explosion du marché : +360% de colocataires entre 2021-2024 (CBRE)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737360"/>
            <a:ext cx="6400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  <a:latin typeface="Calibri"/>
              </a:defRPr>
            </a:pPr>
            <a:r>
              <a:t>725,000 colocataires en Belgique aujourd'hui</a:t>
            </a:r>
          </a:p>
          <a:p>
            <a:r>
              <a:t>Croissance structurelle : crise immobilière + coûts énergétiques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731520" cy="73152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0">
                <a:latin typeface="Calibri"/>
              </a:defRPr>
            </a:pPr>
            <a:r>
              <a:t>⚠️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74320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Recherche inefficace : Les gens signent dans l'urgence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108960"/>
            <a:ext cx="6400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  <a:latin typeface="Calibri"/>
              </a:defRPr>
            </a:pPr>
            <a:r>
              <a:t>Pas de matching sur la personnalité, juste le logement</a:t>
            </a:r>
          </a:p>
          <a:p>
            <a:r>
              <a:t>Résultat : tensions fréquentes dès les premiers mois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731520" cy="731520"/>
          </a:xfrm>
          <a:prstGeom prst="roundRect">
            <a:avLst/>
          </a:prstGeom>
          <a:solidFill>
            <a:srgbClr val="9C5698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0">
                <a:latin typeface="Calibri"/>
              </a:defRPr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11480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Absence totale de données : Marché non mesuré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480560"/>
            <a:ext cx="6400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  <a:latin typeface="Calibri"/>
              </a:defRPr>
            </a:pPr>
            <a:r>
              <a:t>Aucune statistique officielle sur les échecs de colocation en Belgique</a:t>
            </a:r>
          </a:p>
          <a:p>
            <a:r>
              <a:t>= Opportunité stratégique unique pour Izzico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3 Personas, 1 Besoin Commun : La Compatibilité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286000" cy="292608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82880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0">
                <a:latin typeface="Calibri"/>
              </a:defRPr>
            </a:pPr>
            <a:r>
              <a:t>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A000"/>
                </a:solidFill>
                <a:latin typeface="Calibri"/>
              </a:defRPr>
            </a:pPr>
            <a:r>
              <a:t>Searchers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404040"/>
                </a:solidFill>
                <a:latin typeface="Calibri"/>
              </a:defRPr>
            </a:pPr>
            <a:r>
              <a:t>Trouvent un logement mais pas les bonnes personnes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290K chercheurs/an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645920"/>
            <a:ext cx="2286000" cy="292608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82880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0">
                <a:latin typeface="Calibri"/>
              </a:defRPr>
            </a:pPr>
            <a:r>
              <a:t>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46888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9C5698"/>
                </a:solidFill>
                <a:latin typeface="Calibri"/>
              </a:defRPr>
            </a:pPr>
            <a:r>
              <a:t>Owners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92608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404040"/>
                </a:solidFill>
                <a:latin typeface="Calibri"/>
              </a:defRPr>
            </a:pPr>
            <a:r>
              <a:t>Difficile de constituer des groupes stables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02336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290K biens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1645920"/>
            <a:ext cx="2286000" cy="292608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0">
                <a:latin typeface="Calibri"/>
              </a:defRPr>
            </a:pPr>
            <a:r>
              <a:t>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46888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E05747"/>
                </a:solidFill>
                <a:latin typeface="Calibri"/>
              </a:defRPr>
            </a:pPr>
            <a:r>
              <a:t>Residents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92608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404040"/>
                </a:solidFill>
                <a:latin typeface="Calibri"/>
              </a:defRPr>
            </a:pPr>
            <a:r>
              <a:t>Veulent remplacer un coloc compatible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402336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725K résidents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5029200"/>
            <a:ext cx="6400800" cy="7315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5212080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"Tous cherchent la même chose : ne pas vivre avec des inconnus incompatibles"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Izzico = Tinder meets Airbnb pour le co-living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🧠 Matching Intelligent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Algorithme 46+ critères (rythme, propreté, budget...)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39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Profils vérifiés (KYC) + scoring fiabilité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Score de compatibilité visuel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🏠 Gestion Quotidienne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Partage de frais automatisé (OCR factures)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3192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Gestion tâches ménagères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Calendrier partagé + coffre-fort 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🛡️ Prévention des Conflits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21208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Alertes préventives comportementales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48640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Médiation intégrée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76072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Historique transparent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943600"/>
            <a:ext cx="6400800" cy="54864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6080760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Réduire les frictions, augmenter la satisfaction, stabiliser les colocations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Un Marché de €3.1 Milliards en Belgique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Marché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Détail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€3.1 Mds/an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290,000 biens × 725,000 colocataires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€1.3 Md/an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Segment urbain digitalisable (42% TAM)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SOM (3 ans)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€850K - €1M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5% pénétration SAM (6,000 biens, 15,000 users)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65760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Drivers de Croissance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  <a:latin typeface="Calibri"/>
              </a:defRPr>
            </a:pPr>
            <a:r>
              <a:t>✅ 75% des locataires voudraient acheter mais ne peuvent pas (CBRE 2024)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  <a:latin typeface="Calibri"/>
              </a:defRPr>
            </a:pPr>
            <a:r>
              <a:t>✅ Hausse des loyers +4-5%/an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2920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  <a:latin typeface="Calibri"/>
              </a:defRPr>
            </a:pPr>
            <a:r>
              <a:t>✅ Urbanisation + démographie étudiante (251K étudiants FWB)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Seule Plateforme avec Matching Comportemental + Écosystème Complet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304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Izzico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Appartager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Roomlala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Immoweb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Matching algorithmique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46+ critères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❌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rôles (O/R/S)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❌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Suite de 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Complète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⚠️ Limitée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❌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Assistant 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&lt;€3/mois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❌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Data propriétaire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Seuls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1371600" y="5029200"/>
            <a:ext cx="6400800" cy="731520"/>
          </a:xfrm>
          <a:prstGeom prst="roundRect">
            <a:avLst/>
          </a:prstGeom>
          <a:solidFill>
            <a:srgbClr val="9C5698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5212080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Première plateforme scientifique du co-living en Belgique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MVP ~75% Fonctionnel, Prêt pour Beta-Test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  <a:latin typeface="Calibri"/>
              </a:defRPr>
            </a:pPr>
            <a:r>
              <a:t>🌐 Web App : Next.js 14 + React (production-ready)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  <a:latin typeface="Calibri"/>
              </a:defRPr>
            </a:pPr>
            <a:r>
              <a:t>📱 App iOS : SwiftUI native (TestFlight ready)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  <a:latin typeface="Calibri"/>
              </a:defRPr>
            </a:pPr>
            <a:r>
              <a:t>🗄️ Backend : Supabase (PostgreSQL 15, 102+ tables)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  <a:latin typeface="Calibri"/>
              </a:defRPr>
            </a:pPr>
            <a:r>
              <a:t>🤖 IA : Assistant &lt;€3/mois pour 5K conversations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  <a:latin typeface="Calibri"/>
              </a:defRPr>
            </a:pPr>
            <a:r>
              <a:t>💳 Paiements : Stripe intégré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14800"/>
            <a:ext cx="6400800" cy="164592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438912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Coût de développement : quasi-nul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937760"/>
            <a:ext cx="5852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Développé en autonomie avec Claude Code (IA)</a:t>
            </a:r>
          </a:p>
          <a:p>
            <a:r>
              <a:t>Pas besoin de lever €200K pour payer des devs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Freemium Multi-Sided : Matching Gratuit, Monétisation sur Valeur Ajoutée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6400800" cy="457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508760"/>
            <a:ext cx="6035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  <a:latin typeface="Calibri"/>
              </a:defRPr>
            </a:pPr>
            <a:r>
              <a:t>Le matching est GRATUIT - On ne touche pas au loyer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2860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Gratuit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Premium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Prix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🟠 Residents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Chercher remplaçant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Priorité matchs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€3.99/mois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🟡 Searchers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Matchs limités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Matchs illimités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€29.99/mois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🟣 Owners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 propriété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Multi-propriétés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€23.99/mois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754880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Revenus Additionnels Futurs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1206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Commission P2P (transferts loyers)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Services premium (vérifications, assurances)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8521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• Partenariats B2B (résidences étudiantes)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5943600"/>
            <a:ext cx="3657600" cy="457200"/>
          </a:xfrm>
          <a:prstGeom prst="roundRect">
            <a:avLst/>
          </a:prstGeom>
          <a:solidFill>
            <a:srgbClr val="FFA000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608076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Objectif Année 3 : €950K - €1.1M ARR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Validation Marché Bruxelles en 12 Mois - Phase Build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Objectifs Q1-Q2 2026 (6 mois)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✅ 100-200 biens actifs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✅ 500 utilisateurs inscrits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✅ 50 matchings réussis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✅ €500 MRR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✅ NPS &gt;30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Objectifs Q3-Q4 2026 (12 mois)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8288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✅ 500 biens actifs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1488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✅ 1,500 utilisateurs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4688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✅ 200 matchings réussis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7889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✅ €2K MRR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10896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✅ NPS &gt;40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Ce qu'il reste à clarifier (Mom Test en cours)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11480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97706"/>
                </a:solidFill>
                <a:latin typeface="Calibri"/>
              </a:defRPr>
            </a:pPr>
            <a:r>
              <a:t>⚠️ Affiner pricing Owners (interviews avec 10+ propriétaires multi-biens)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7200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97706"/>
                </a:solidFill>
                <a:latin typeface="Calibri"/>
              </a:defRPr>
            </a:pPr>
            <a:r>
              <a:t>⚠️ Valider willingness-to-pay Searchers (tests A/B landing page)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5303520"/>
            <a:ext cx="4572000" cy="548640"/>
          </a:xfrm>
          <a:prstGeom prst="roundRect">
            <a:avLst/>
          </a:prstGeom>
          <a:solidFill>
            <a:srgbClr val="E05747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544068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Budget Recherché : €20K pour Marketing + Charte Pro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F9F9F9"/>
              </a:gs>
              <a:gs pos="100000">
                <a:srgbClr val="F2F2F2"/>
              </a:gs>
            </a:gsLst>
            <a:lin scaled="0" ang="135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Samuel Baudon - Fondateur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Background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🎓 Master Relations Publiques IHECS (2024-2026)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🎨 Co-fondateur Ears &amp; Eyes (événementiel art+musique, 2023-2025)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79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💼 Consultant stratégique Agoria (analyse marché PME tech, 2024-2025)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39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🏛️ Assistant événementiel MIMA Museum (2021-2024)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Pourquoi Moi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49039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✅ Community building : Création de communautés engagées (Ears &amp; Eyes)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✅ Stakeholder mapping : Comprendre les besoins utilisateurs (Agoria)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8056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✅ Storytelling : Créer une marque qui résonne (18-30 ans)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4632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Calibri"/>
              </a:defRPr>
            </a:pPr>
            <a:r>
              <a:t>✅ Autodidacte tech : MVP fonctionnel développé seul avec Claude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5303520"/>
            <a:ext cx="6400800" cy="731520"/>
          </a:xfrm>
          <a:prstGeom prst="roundRect">
            <a:avLst/>
          </a:prstGeom>
          <a:solidFill>
            <a:srgbClr val="9C5698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5486400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"Rejoignez-nous dans Build II pour transformer le co-living en Belgique"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61264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t>📧 contact@izzico.be | 🌐 www.izzico.be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